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2"/>
    <p:sldId id="289" r:id="rId33"/>
    <p:sldId id="287" r:id="rId34"/>
    <p:sldId id="290" r:id="rId35"/>
    <p:sldId id="291" r:id="rId36"/>
    <p:sldId id="292" r:id="rId37"/>
    <p:sldId id="286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gif"/><Relationship Id="rId13" Type="http://schemas.openxmlformats.org/officeDocument/2006/relationships/image" Target="../media/image57.png"/><Relationship Id="rId3" Type="http://schemas.openxmlformats.org/officeDocument/2006/relationships/image" Target="../media/image47.gif"/><Relationship Id="rId7" Type="http://schemas.openxmlformats.org/officeDocument/2006/relationships/image" Target="../media/image51.gif"/><Relationship Id="rId12" Type="http://schemas.openxmlformats.org/officeDocument/2006/relationships/image" Target="../media/image56.gif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gif"/><Relationship Id="rId11" Type="http://schemas.openxmlformats.org/officeDocument/2006/relationships/image" Target="../media/image55.gif"/><Relationship Id="rId5" Type="http://schemas.openxmlformats.org/officeDocument/2006/relationships/image" Target="../media/image49.gif"/><Relationship Id="rId10" Type="http://schemas.openxmlformats.org/officeDocument/2006/relationships/image" Target="../media/image54.gif"/><Relationship Id="rId4" Type="http://schemas.openxmlformats.org/officeDocument/2006/relationships/image" Target="../media/image48.gif"/><Relationship Id="rId9" Type="http://schemas.openxmlformats.org/officeDocument/2006/relationships/image" Target="../media/image53.gif"/><Relationship Id="rId14" Type="http://schemas.openxmlformats.org/officeDocument/2006/relationships/image" Target="../media/image58.gi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jpeg"/><Relationship Id="rId4" Type="http://schemas.openxmlformats.org/officeDocument/2006/relationships/image" Target="../media/image100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UNIT-I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DC CIRCUITS:</a:t>
            </a:r>
          </a:p>
          <a:p>
            <a:pPr algn="just"/>
            <a:r>
              <a:rPr lang="en-US" dirty="0" smtClean="0"/>
              <a:t>Basic definitions of voltages and current and power, Electrical circuit elements(R, L and C), Ohm’s Law, Voltage and current Sources, KCL and KVL , analysis of simple circuits with DC Excitation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/>
          <a:lstStyle/>
          <a:p>
            <a:r>
              <a:rPr lang="en-US" b="1" dirty="0" smtClean="0"/>
              <a:t>Basic Definitions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983163"/>
          </a:xfrm>
        </p:spPr>
        <p:txBody>
          <a:bodyPr>
            <a:normAutofit lnSpcReduction="10000"/>
          </a:bodyPr>
          <a:lstStyle/>
          <a:p>
            <a:r>
              <a:rPr lang="en-US" sz="2400" b="1" i="1" dirty="0" smtClean="0">
                <a:solidFill>
                  <a:srgbClr val="FF0000"/>
                </a:solidFill>
              </a:rPr>
              <a:t>Voltage:</a:t>
            </a:r>
          </a:p>
          <a:p>
            <a:r>
              <a:rPr lang="en-US" sz="2400" dirty="0" smtClean="0"/>
              <a:t>Two types of charges : +</a:t>
            </a:r>
            <a:r>
              <a:rPr lang="en-US" sz="2400" dirty="0" err="1" smtClean="0"/>
              <a:t>ve</a:t>
            </a:r>
            <a:r>
              <a:rPr lang="en-US" sz="2400" dirty="0" smtClean="0"/>
              <a:t> and –</a:t>
            </a:r>
            <a:r>
              <a:rPr lang="en-US" sz="2400" dirty="0" err="1" smtClean="0"/>
              <a:t>ve</a:t>
            </a:r>
            <a:r>
              <a:rPr lang="en-US" sz="2400" dirty="0" smtClean="0"/>
              <a:t> charges</a:t>
            </a:r>
          </a:p>
          <a:p>
            <a:r>
              <a:rPr lang="en-US" sz="2400" dirty="0" smtClean="0"/>
              <a:t>The forces of attraction will exist between these charges and requires some amount of work to be done for moving these charges against these forces to move a specific distance.</a:t>
            </a:r>
          </a:p>
          <a:p>
            <a:r>
              <a:rPr lang="en-US" sz="2400" dirty="0" smtClean="0"/>
              <a:t>Charges possess a certain amount of potential energy because of separation</a:t>
            </a:r>
          </a:p>
          <a:p>
            <a:r>
              <a:rPr lang="en-US" sz="2400" dirty="0" smtClean="0"/>
              <a:t>The difference in potential energy of the charges is called “Potential Difference”. It is denoted by V, and units is Volts</a:t>
            </a:r>
          </a:p>
          <a:p>
            <a:r>
              <a:rPr lang="en-US" sz="2400" dirty="0" smtClean="0"/>
              <a:t>V= W/Q = J/C (or) volts  V =</a:t>
            </a:r>
            <a:r>
              <a:rPr lang="en-US" sz="2400" dirty="0" err="1" smtClean="0"/>
              <a:t>dw</a:t>
            </a:r>
            <a:r>
              <a:rPr lang="en-US" sz="2400" dirty="0" smtClean="0"/>
              <a:t>/dq</a:t>
            </a:r>
          </a:p>
          <a:p>
            <a:r>
              <a:rPr lang="en-US" sz="2400" dirty="0" smtClean="0"/>
              <a:t>One Volt is defined as the p.d between two points when one joule of energy is used to pass one coulomb of charge from one point to another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153400" cy="5592763"/>
          </a:xfrm>
        </p:spPr>
        <p:txBody>
          <a:bodyPr>
            <a:normAutofit fontScale="925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Current:</a:t>
            </a:r>
          </a:p>
          <a:p>
            <a:pPr algn="just"/>
            <a:r>
              <a:rPr lang="en-US" sz="2400" dirty="0" smtClean="0"/>
              <a:t>Free electrons in semi conductor materials moves randomly in all directions in the absence of external pressure (or) voltage</a:t>
            </a:r>
          </a:p>
          <a:p>
            <a:pPr algn="just"/>
            <a:r>
              <a:rPr lang="en-US" sz="2400" dirty="0" smtClean="0"/>
              <a:t>When external voltage is applied all the electrons move in particular direction depending on the polarity of applied voltage</a:t>
            </a:r>
          </a:p>
          <a:p>
            <a:pPr algn="just"/>
            <a:r>
              <a:rPr lang="en-US" sz="2400" dirty="0" smtClean="0"/>
              <a:t>Original direction is from –</a:t>
            </a:r>
            <a:r>
              <a:rPr lang="en-US" sz="2400" dirty="0" err="1" smtClean="0"/>
              <a:t>ve</a:t>
            </a:r>
            <a:r>
              <a:rPr lang="en-US" sz="2400" dirty="0" smtClean="0"/>
              <a:t> to +</a:t>
            </a:r>
            <a:r>
              <a:rPr lang="en-US" sz="2400" dirty="0" err="1" smtClean="0"/>
              <a:t>ve</a:t>
            </a:r>
            <a:r>
              <a:rPr lang="en-US" sz="2400" dirty="0" smtClean="0"/>
              <a:t> and the conventional direction is from +</a:t>
            </a:r>
            <a:r>
              <a:rPr lang="en-US" sz="2400" dirty="0" err="1" smtClean="0"/>
              <a:t>ve</a:t>
            </a:r>
            <a:r>
              <a:rPr lang="en-US" sz="2400" dirty="0" smtClean="0"/>
              <a:t> to –</a:t>
            </a:r>
            <a:r>
              <a:rPr lang="en-US" sz="2400" dirty="0" err="1" smtClean="0"/>
              <a:t>ve</a:t>
            </a:r>
            <a:endParaRPr lang="en-US" sz="2400" dirty="0" smtClean="0"/>
          </a:p>
          <a:p>
            <a:pPr algn="just"/>
            <a:r>
              <a:rPr lang="en-US" sz="2400" b="1" dirty="0" smtClean="0">
                <a:solidFill>
                  <a:srgbClr val="FF0000"/>
                </a:solidFill>
              </a:rPr>
              <a:t>“ Current is defined as the rate of flow of electrons in a semi conductive or conductive material”.</a:t>
            </a:r>
          </a:p>
          <a:p>
            <a:pPr algn="just"/>
            <a:r>
              <a:rPr lang="en-US" sz="2400" dirty="0" smtClean="0"/>
              <a:t>It is measured by number of electrons that passes a point in unit time </a:t>
            </a:r>
          </a:p>
          <a:p>
            <a:pPr algn="just">
              <a:buNone/>
            </a:pPr>
            <a:r>
              <a:rPr lang="en-US" sz="2400" dirty="0" smtClean="0"/>
              <a:t>	I = Q/t = dq/dt.</a:t>
            </a:r>
          </a:p>
          <a:p>
            <a:pPr algn="just">
              <a:buNone/>
            </a:pPr>
            <a:r>
              <a:rPr lang="en-US" sz="2400" dirty="0" smtClean="0"/>
              <a:t>	Unit is Ampere.  One Ampere = 1 C/sec , 1 C = 6.25 X 10</a:t>
            </a:r>
            <a:r>
              <a:rPr lang="en-US" sz="2400" baseline="30000" dirty="0" smtClean="0"/>
              <a:t>18</a:t>
            </a:r>
            <a:r>
              <a:rPr lang="en-US" sz="2400" dirty="0" smtClean="0"/>
              <a:t> electrons</a:t>
            </a:r>
          </a:p>
          <a:p>
            <a:pPr algn="just"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Power and Energy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50593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Energy is the capacity for doing work (W or E)</a:t>
            </a:r>
          </a:p>
          <a:p>
            <a:pPr algn="just"/>
            <a:r>
              <a:rPr lang="en-US" dirty="0" smtClean="0"/>
              <a:t>Power is rate of change of energy (P)</a:t>
            </a:r>
          </a:p>
          <a:p>
            <a:pPr algn="just"/>
            <a:r>
              <a:rPr lang="en-US" dirty="0" smtClean="0"/>
              <a:t>Power P = Energy/time = W/t</a:t>
            </a:r>
          </a:p>
          <a:p>
            <a:pPr algn="just"/>
            <a:r>
              <a:rPr lang="en-US" dirty="0" smtClean="0"/>
              <a:t>P = dw/dt</a:t>
            </a:r>
          </a:p>
          <a:p>
            <a:pPr algn="just"/>
            <a:r>
              <a:rPr lang="en-US" dirty="0" smtClean="0"/>
              <a:t>P = dw/dq X dq/dt</a:t>
            </a:r>
          </a:p>
          <a:p>
            <a:pPr algn="just"/>
            <a:r>
              <a:rPr lang="en-US" dirty="0" smtClean="0"/>
              <a:t>P = V X I</a:t>
            </a:r>
          </a:p>
          <a:p>
            <a:pPr algn="just"/>
            <a:r>
              <a:rPr lang="en-US" dirty="0" smtClean="0"/>
              <a:t>Unit of power is Watts (or) J/S</a:t>
            </a:r>
          </a:p>
          <a:p>
            <a:pPr algn="just"/>
            <a:r>
              <a:rPr lang="en-US" dirty="0" smtClean="0"/>
              <a:t>One watt is the amount of power generated when one joule of energy is consumed in one second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Circuit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077200" cy="49831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Circuit consists of majorly three components: (a) source (b) load or sink (c) Connecting wires</a:t>
            </a:r>
          </a:p>
          <a:p>
            <a:pPr algn="just"/>
            <a:r>
              <a:rPr lang="en-US" dirty="0" smtClean="0"/>
              <a:t>Purpose is to transfer the energy from source to load. Energy is transferred by means of current</a:t>
            </a:r>
          </a:p>
          <a:p>
            <a:pPr algn="just"/>
            <a:r>
              <a:rPr lang="en-US" dirty="0" smtClean="0"/>
              <a:t>If the current has complete path to flow in a circuit then the circuit is called closed circuit.</a:t>
            </a:r>
          </a:p>
          <a:p>
            <a:pPr algn="just"/>
            <a:r>
              <a:rPr lang="en-US" dirty="0" smtClean="0"/>
              <a:t>When the path is not closed, then the circuit is called open circuit</a:t>
            </a:r>
          </a:p>
          <a:p>
            <a:pPr algn="just"/>
            <a:r>
              <a:rPr lang="en-US" dirty="0" smtClean="0"/>
              <a:t>Interconnection of two or more simple circuit elements are called Electrical network</a:t>
            </a:r>
          </a:p>
          <a:p>
            <a:pPr algn="just"/>
            <a:r>
              <a:rPr lang="en-US" dirty="0" smtClean="0"/>
              <a:t>Circuit is characterized by voltage and current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609600"/>
            <a:ext cx="783172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of Network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Active and Passive:</a:t>
            </a:r>
          </a:p>
          <a:p>
            <a:r>
              <a:rPr lang="en-US" dirty="0" smtClean="0"/>
              <a:t>Active elements: capable of delivering the energy. </a:t>
            </a:r>
            <a:r>
              <a:rPr lang="en-US" dirty="0" err="1" smtClean="0"/>
              <a:t>Eg</a:t>
            </a:r>
            <a:r>
              <a:rPr lang="en-US" dirty="0" smtClean="0"/>
              <a:t>: batteries, cells, voltage and current sources</a:t>
            </a:r>
          </a:p>
          <a:p>
            <a:r>
              <a:rPr lang="en-US" dirty="0" smtClean="0"/>
              <a:t>Average power &gt;0</a:t>
            </a:r>
          </a:p>
          <a:p>
            <a:r>
              <a:rPr lang="en-US" dirty="0" smtClean="0"/>
              <a:t>Passive elements: which absorbs the energy </a:t>
            </a:r>
            <a:r>
              <a:rPr lang="en-US" dirty="0" err="1" smtClean="0"/>
              <a:t>Eg</a:t>
            </a:r>
            <a:r>
              <a:rPr lang="en-US" dirty="0" smtClean="0"/>
              <a:t>: Resistors, Inductors and Capacitors</a:t>
            </a:r>
          </a:p>
          <a:p>
            <a:r>
              <a:rPr lang="en-US" dirty="0" smtClean="0"/>
              <a:t>Average power&lt;0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077200" cy="55165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Bilateral and unilateral:</a:t>
            </a:r>
          </a:p>
          <a:p>
            <a:r>
              <a:rPr lang="en-US" b="1" dirty="0" smtClean="0"/>
              <a:t>Bilateral: </a:t>
            </a:r>
            <a:r>
              <a:rPr lang="en-US" dirty="0" smtClean="0"/>
              <a:t>V-I relationship is same in either direction. Ex: </a:t>
            </a:r>
            <a:r>
              <a:rPr lang="en-US" dirty="0" err="1" smtClean="0"/>
              <a:t>R,L</a:t>
            </a:r>
            <a:r>
              <a:rPr lang="en-US" dirty="0" smtClean="0"/>
              <a:t> and C</a:t>
            </a:r>
          </a:p>
          <a:p>
            <a:r>
              <a:rPr lang="en-US" b="1" dirty="0" smtClean="0"/>
              <a:t>Unilateral:</a:t>
            </a:r>
            <a:r>
              <a:rPr lang="en-US" dirty="0" smtClean="0"/>
              <a:t> different V-I relationship for different possible directions</a:t>
            </a:r>
          </a:p>
          <a:p>
            <a:r>
              <a:rPr lang="en-US" dirty="0" smtClean="0"/>
              <a:t>Ex: Vacuum diodes, rectifiers etc</a:t>
            </a:r>
          </a:p>
          <a:p>
            <a:r>
              <a:rPr lang="en-US" b="1" dirty="0" smtClean="0"/>
              <a:t>Linear and Non-Linear:</a:t>
            </a:r>
          </a:p>
          <a:p>
            <a:r>
              <a:rPr lang="en-US" b="1" dirty="0" smtClean="0"/>
              <a:t>Linear: </a:t>
            </a:r>
            <a:r>
              <a:rPr lang="en-US" dirty="0" smtClean="0"/>
              <a:t>V-I curve is a straight line passing through zero</a:t>
            </a:r>
          </a:p>
          <a:p>
            <a:r>
              <a:rPr lang="en-US" b="1" dirty="0" smtClean="0"/>
              <a:t>Non-Linear: </a:t>
            </a:r>
            <a:r>
              <a:rPr lang="en-US" dirty="0" smtClean="0"/>
              <a:t>not a straight line passing through zero</a:t>
            </a:r>
          </a:p>
          <a:p>
            <a:r>
              <a:rPr lang="en-US" b="1" dirty="0" smtClean="0"/>
              <a:t>Lumped and distributed:</a:t>
            </a:r>
          </a:p>
          <a:p>
            <a:r>
              <a:rPr lang="en-US" b="1" dirty="0" smtClean="0"/>
              <a:t>Lumped:</a:t>
            </a:r>
            <a:r>
              <a:rPr lang="en-US" dirty="0" smtClean="0"/>
              <a:t> small in size and physically separable</a:t>
            </a:r>
          </a:p>
          <a:p>
            <a:r>
              <a:rPr lang="en-US" b="1" dirty="0" smtClean="0"/>
              <a:t>Distributed:</a:t>
            </a:r>
            <a:r>
              <a:rPr lang="en-US" dirty="0" smtClean="0"/>
              <a:t> which is not physically separable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PASSIVE CIRCUIT ELEMENTS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95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Electrical Resistance:</a:t>
            </a:r>
          </a:p>
          <a:p>
            <a:pPr algn="just"/>
            <a:r>
              <a:rPr lang="en-US" sz="2400" dirty="0" smtClean="0"/>
              <a:t>Electrical resistance is a measure of the degree to which an object opposes an electric current through it.</a:t>
            </a:r>
          </a:p>
          <a:p>
            <a:pPr algn="just"/>
            <a:r>
              <a:rPr lang="en-US" sz="2400" dirty="0" smtClean="0"/>
              <a:t>It is a property which opposes the electric current.</a:t>
            </a:r>
          </a:p>
          <a:p>
            <a:pPr algn="just"/>
            <a:r>
              <a:rPr lang="en-US" sz="2400" dirty="0" smtClean="0"/>
              <a:t>The SI unit of electrical resistance is ohm (</a:t>
            </a:r>
            <a:r>
              <a:rPr lang="el-GR" sz="2400" dirty="0" smtClean="0"/>
              <a:t>Ω</a:t>
            </a:r>
            <a:r>
              <a:rPr lang="en-US" sz="2400" dirty="0" smtClean="0"/>
              <a:t>).</a:t>
            </a:r>
          </a:p>
          <a:p>
            <a:r>
              <a:rPr lang="en-US" sz="2400" dirty="0" smtClean="0"/>
              <a:t>The resistance of an object determines the amount of current through the object for a given voltage across the object.</a:t>
            </a:r>
          </a:p>
          <a:p>
            <a:pPr algn="just"/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4648200"/>
            <a:ext cx="1219200" cy="615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4648200"/>
            <a:ext cx="1371600" cy="638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5257800"/>
            <a:ext cx="74009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smtClean="0">
                <a:solidFill>
                  <a:srgbClr val="FF0000"/>
                </a:solidFill>
              </a:rPr>
              <a:t>Resistor: </a:t>
            </a:r>
            <a:r>
              <a:rPr lang="en-US" sz="2400" dirty="0" smtClean="0"/>
              <a:t>A resistor is a two-terminal electrical or electronic component that resists an electric current by producing a voltage drop between its terminals in accordance with Ohms law</a:t>
            </a:r>
          </a:p>
          <a:p>
            <a:pPr algn="just"/>
            <a:r>
              <a:rPr lang="en-US" sz="2400" dirty="0" smtClean="0"/>
              <a:t> R = V / I</a:t>
            </a:r>
          </a:p>
          <a:p>
            <a:r>
              <a:rPr lang="en-US" sz="2400" dirty="0" smtClean="0"/>
              <a:t>The electrical resistance is equal to the voltage drop across the resistor divided by the current through the resistor.</a:t>
            </a:r>
          </a:p>
          <a:p>
            <a:pPr algn="just"/>
            <a:endParaRPr lang="en-US" sz="2400" dirty="0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3352800"/>
            <a:ext cx="2209800" cy="8249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14400" y="4191000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Energy in a Resistor Instantaneous power absorbed in the resistor,</a:t>
            </a:r>
          </a:p>
          <a:p>
            <a:r>
              <a:rPr lang="sv-SE" dirty="0" smtClean="0"/>
              <a:t>p = vi = iR X i = i</a:t>
            </a:r>
            <a:r>
              <a:rPr lang="sv-SE" baseline="30000" dirty="0" smtClean="0"/>
              <a:t>2</a:t>
            </a:r>
            <a:r>
              <a:rPr lang="sv-SE" dirty="0" smtClean="0"/>
              <a:t> R (in Watt)</a:t>
            </a:r>
          </a:p>
          <a:p>
            <a:r>
              <a:rPr lang="en-US" dirty="0" smtClean="0"/>
              <a:t>Therefore, the energy converted into heat energy is given by,</a:t>
            </a:r>
            <a:endParaRPr lang="en-US" dirty="0"/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5181600"/>
            <a:ext cx="4267200" cy="772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81000" y="533400"/>
            <a:ext cx="8382000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Inductance:</a:t>
            </a:r>
          </a:p>
          <a:p>
            <a:pPr algn="just"/>
            <a:r>
              <a:rPr lang="en-US" sz="2000" dirty="0" smtClean="0"/>
              <a:t>Inductance is the property by virtue of which a circuit opposes the changes in the value of a time varying current flowing through it. Inductance causes opposition only to varying currents and does not cause any opposition to steady or direct current.</a:t>
            </a:r>
          </a:p>
          <a:p>
            <a:pPr algn="just"/>
            <a:r>
              <a:rPr lang="en-US" sz="2000" dirty="0" smtClean="0"/>
              <a:t>An electric current i flowing around a circuit produces a magnetic field and hence a magnetic flux </a:t>
            </a:r>
            <a:r>
              <a:rPr lang="el-GR" sz="2000" dirty="0" smtClean="0"/>
              <a:t>φ</a:t>
            </a:r>
            <a:r>
              <a:rPr lang="en-US" sz="2000" dirty="0" smtClean="0"/>
              <a:t> through the circuit. The ratio of the magnetic flux to the current is called the </a:t>
            </a:r>
            <a:r>
              <a:rPr lang="en-US" sz="2000" b="1" dirty="0" smtClean="0"/>
              <a:t>inductance</a:t>
            </a:r>
            <a:r>
              <a:rPr lang="en-US" sz="2000" dirty="0" smtClean="0"/>
              <a:t>, or more accurately self-inductance of the circuit.</a:t>
            </a:r>
          </a:p>
          <a:p>
            <a:r>
              <a:rPr lang="en-US" sz="2000" dirty="0" smtClean="0"/>
              <a:t>L = </a:t>
            </a:r>
            <a:r>
              <a:rPr lang="el-GR" sz="2000" dirty="0" smtClean="0"/>
              <a:t>φ</a:t>
            </a:r>
            <a:r>
              <a:rPr lang="en-US" sz="2000" dirty="0" smtClean="0"/>
              <a:t> / I SI unit is Henry. Or Wb/A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Inductor: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smtClean="0"/>
              <a:t>An inductor is a passive electrical device employed in electrical circuits for its property of inductance.</a:t>
            </a:r>
          </a:p>
          <a:p>
            <a:r>
              <a:rPr lang="en-US" sz="2000" dirty="0" smtClean="0"/>
              <a:t>V = L </a:t>
            </a:r>
            <a:r>
              <a:rPr lang="en-US" sz="2000" dirty="0" err="1" smtClean="0"/>
              <a:t>di</a:t>
            </a:r>
            <a:r>
              <a:rPr lang="en-US" sz="2000" dirty="0" smtClean="0"/>
              <a:t>/dt</a:t>
            </a:r>
          </a:p>
          <a:p>
            <a:endParaRPr lang="en-US" dirty="0" smtClean="0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4648200"/>
            <a:ext cx="3962400" cy="85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5334000"/>
            <a:ext cx="52006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1447800" y="6211669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the current through an inductor cannot change instantaneously.</a:t>
            </a:r>
            <a:endParaRPr lang="en-US" b="1" dirty="0"/>
          </a:p>
        </p:txBody>
      </p:sp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10013" y="3228975"/>
            <a:ext cx="13239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7400" y="4114800"/>
            <a:ext cx="277404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55575" y="-41116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04800"/>
            <a:ext cx="71532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81000" y="1295400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 order to pass current through the current, work must be done by the voltage source against this emf. The formula for rate of work done is given by,</a:t>
            </a:r>
            <a:endParaRPr lang="en-US" dirty="0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905000"/>
            <a:ext cx="6324600" cy="2240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4191000"/>
            <a:ext cx="79248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81000" y="533400"/>
            <a:ext cx="83820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Capacitance:</a:t>
            </a:r>
          </a:p>
          <a:p>
            <a:r>
              <a:rPr lang="en-US" dirty="0" smtClean="0"/>
              <a:t>Capacitance is a measure of the amount of electric charge stored (or separated) for a given electric potential. The most common form of charge storage device is a two-plate capacitor. If the charges on the plates are +Q and Q, and V gives the voltage difference between the plates, then the capacitance is given by</a:t>
            </a:r>
          </a:p>
          <a:p>
            <a:endParaRPr lang="en-US" dirty="0" smtClean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2133600"/>
            <a:ext cx="8477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533400" y="2514600"/>
            <a:ext cx="784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SI unit of capacitance is Farad; 1 Farad = 1 Coulomb per volt.</a:t>
            </a:r>
          </a:p>
          <a:p>
            <a:r>
              <a:rPr lang="en-US" dirty="0" smtClean="0"/>
              <a:t>the capacitance of a parallel-plate capacitor constructed of two parallel plates of area A separated by a distance d is approximately equal to the following:</a:t>
            </a:r>
          </a:p>
          <a:p>
            <a:endParaRPr 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3429000"/>
            <a:ext cx="9906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4038600"/>
            <a:ext cx="52197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609600" y="5029200"/>
            <a:ext cx="838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Capacitor: A capacitor is an electrical device that can store energy in the electric field between a pair of closely-spaced conductors. When current is applied to the capacitor, electric charges of equal magnitude, but opposite polarity, build up on each conductor.</a:t>
            </a:r>
          </a:p>
          <a:p>
            <a:pPr algn="just"/>
            <a:r>
              <a:rPr lang="en-US" dirty="0" smtClean="0"/>
              <a:t>Capacitors are used in electrical circuits as energy-storage devices. They can also be used to differentiate between high-frequency and low-frequency signals and this makes them useful in electronic filters. Capacitors are occasionally referred to as condensers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572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relation between charge and voltage in a capacitor is written as</a:t>
            </a:r>
          </a:p>
          <a:p>
            <a:r>
              <a:rPr lang="en-US" dirty="0" smtClean="0"/>
              <a:t>Q = CV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43000"/>
            <a:ext cx="2247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600200"/>
            <a:ext cx="14954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2819400"/>
            <a:ext cx="26289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0" y="4191000"/>
            <a:ext cx="14573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1000" y="4876800"/>
            <a:ext cx="180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3429000" y="1295400"/>
            <a:ext cx="5105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We can find the energy stored in a capacitance by integrating this equation. Starting with an</a:t>
            </a:r>
          </a:p>
          <a:p>
            <a:r>
              <a:rPr lang="en-US" dirty="0" smtClean="0"/>
              <a:t>uncharged capacitance (q = 0) and moving charge from one plate to the other until the plates have charge +Q and Q requires the work W.</a:t>
            </a:r>
            <a:endParaRPr lang="en-US" dirty="0"/>
          </a:p>
        </p:txBody>
      </p:sp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810000" y="2819400"/>
            <a:ext cx="36957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3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886200" y="3581400"/>
            <a:ext cx="26003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3429000" y="4267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where W is the energy measured in Joule,</a:t>
            </a:r>
          </a:p>
          <a:p>
            <a:r>
              <a:rPr lang="en-US" dirty="0" smtClean="0"/>
              <a:t>C is the capacitance, measured in Farad,</a:t>
            </a:r>
          </a:p>
          <a:p>
            <a:r>
              <a:rPr lang="en-US" dirty="0" smtClean="0"/>
              <a:t>V is the voltage measured in Volt.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33400"/>
            <a:ext cx="8001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Ohms Law</a:t>
            </a:r>
          </a:p>
          <a:p>
            <a:pPr algn="just"/>
            <a:r>
              <a:rPr lang="en-US" dirty="0" smtClean="0"/>
              <a:t>Ohms law states that the voltage v(t) across a resistor R is directly proportional to the current i(t) flowing through it.</a:t>
            </a:r>
          </a:p>
          <a:p>
            <a:pPr algn="ctr"/>
            <a:r>
              <a:rPr lang="en-US" dirty="0" smtClean="0"/>
              <a:t>(Or)</a:t>
            </a:r>
          </a:p>
          <a:p>
            <a:pPr algn="just"/>
            <a:r>
              <a:rPr lang="en-US" dirty="0" smtClean="0"/>
              <a:t>Physical states (temperature, material, etc.) of a conductor remaining constant, the current flowing through a conductor is directly proportional to the potential difference across the two ends of the conductor.</a:t>
            </a:r>
          </a:p>
          <a:p>
            <a:pPr algn="ctr"/>
            <a:r>
              <a:rPr lang="en-US" dirty="0" smtClean="0"/>
              <a:t>(or)</a:t>
            </a:r>
          </a:p>
          <a:p>
            <a:pPr algn="just"/>
            <a:r>
              <a:rPr lang="en-US" dirty="0" smtClean="0"/>
              <a:t>At constant temperature, the current flowing through a conductor is directly proportional to the potential difference across the two ends of the conductor.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3733800"/>
            <a:ext cx="23050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4267200"/>
            <a:ext cx="222700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191000" y="48006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V = I R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81000"/>
            <a:ext cx="5105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Kirchhoff's </a:t>
            </a:r>
            <a:r>
              <a:rPr lang="en-US" sz="3200" b="1" dirty="0" smtClean="0">
                <a:solidFill>
                  <a:srgbClr val="FF0000"/>
                </a:solidFill>
              </a:rPr>
              <a:t>Current Law (KCL)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990600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based on the principle of conservation of charge.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it is defined as </a:t>
            </a:r>
            <a:r>
              <a:rPr lang="en-US" b="1" dirty="0" smtClean="0"/>
              <a:t>the algebraic sum of the currents meeting at a point is zero,. i.e., at a node, ∑ I</a:t>
            </a:r>
            <a:r>
              <a:rPr lang="en-US" b="1" baseline="-25000" dirty="0" smtClean="0"/>
              <a:t>n</a:t>
            </a:r>
            <a:r>
              <a:rPr lang="en-US" b="1" dirty="0" smtClean="0"/>
              <a:t> = 0,</a:t>
            </a:r>
            <a:r>
              <a:rPr lang="en-US" dirty="0" smtClean="0"/>
              <a:t> where I</a:t>
            </a:r>
            <a:r>
              <a:rPr lang="en-US" baseline="-25000" dirty="0" smtClean="0"/>
              <a:t>n</a:t>
            </a:r>
            <a:r>
              <a:rPr lang="en-US" dirty="0" smtClean="0"/>
              <a:t> are the currents in the branches meeting at the node.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800" y="21336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This is also sometimes stated as the sum of the currents entering a node is  equal to the sum of the currents leaving the node.</a:t>
            </a:r>
            <a:endParaRPr lang="en-US" b="1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048000"/>
            <a:ext cx="23622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3352800"/>
            <a:ext cx="38004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191000" y="4267200"/>
            <a:ext cx="4569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Entering the node is taken as positive direction</a:t>
            </a:r>
          </a:p>
          <a:p>
            <a:r>
              <a:rPr lang="en-US" dirty="0" smtClean="0"/>
              <a:t>Leaving the node is taken as Negative direction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57200"/>
            <a:ext cx="5229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Kirchhoff's  Voltage </a:t>
            </a:r>
            <a:r>
              <a:rPr lang="en-US" sz="3200" b="1" dirty="0" smtClean="0">
                <a:solidFill>
                  <a:srgbClr val="FF0000"/>
                </a:solidFill>
              </a:rPr>
              <a:t>Law (KVL)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based on the principle of conservation of energy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The algebraic sum of the potential differences taken round a closed loop is zero.</a:t>
            </a:r>
          </a:p>
          <a:p>
            <a:pPr algn="just"/>
            <a:r>
              <a:rPr lang="en-US" b="1" dirty="0" smtClean="0"/>
              <a:t>i. e., around a loop, ∑ </a:t>
            </a:r>
            <a:r>
              <a:rPr lang="en-US" b="1" dirty="0" err="1" smtClean="0"/>
              <a:t>Vn</a:t>
            </a:r>
            <a:r>
              <a:rPr lang="en-US" b="1" dirty="0" smtClean="0"/>
              <a:t> = 0, where </a:t>
            </a:r>
            <a:r>
              <a:rPr lang="en-US" b="1" dirty="0" err="1" smtClean="0"/>
              <a:t>Vn</a:t>
            </a:r>
            <a:r>
              <a:rPr lang="en-US" b="1" dirty="0" smtClean="0"/>
              <a:t> are the voltages across the branches in the loop.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762000" y="2590800"/>
            <a:ext cx="784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This is also sometimes stated as the sum of the </a:t>
            </a:r>
            <a:r>
              <a:rPr lang="en-US" b="1" dirty="0" err="1" smtClean="0"/>
              <a:t>emfs</a:t>
            </a:r>
            <a:r>
              <a:rPr lang="en-US" b="1" dirty="0" smtClean="0"/>
              <a:t> taken around a closed loop is equal to the sum of the voltage drops around the loop.</a:t>
            </a:r>
            <a:endParaRPr lang="en-US" b="1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352800"/>
            <a:ext cx="417195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5029200"/>
            <a:ext cx="4987636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04800"/>
            <a:ext cx="79248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Sign Conventions for applying Kirchhoffs Laws</a:t>
            </a:r>
          </a:p>
          <a:p>
            <a:r>
              <a:rPr lang="en-US" dirty="0" smtClean="0"/>
              <a:t>1. When tracing through a voltage source from positive to negative terminal, the voltage should be given a positive sign.</a:t>
            </a:r>
          </a:p>
          <a:p>
            <a:r>
              <a:rPr lang="en-US" dirty="0" smtClean="0"/>
              <a:t>2. When tracing through a voltage source from negative to positive terminal, the voltage should be given a negative sign.</a:t>
            </a:r>
          </a:p>
          <a:p>
            <a:r>
              <a:rPr lang="en-US" dirty="0" smtClean="0"/>
              <a:t>3. When tracing through a resistance in the direction of current flow, the voltage should be given a positive sign.</a:t>
            </a:r>
          </a:p>
          <a:p>
            <a:r>
              <a:rPr lang="en-US" dirty="0" smtClean="0"/>
              <a:t>4. When tracing through a resistance in a direction opposite to the direction of current flow, the voltage should be given a negative sign.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3048000"/>
            <a:ext cx="52656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TYPES OF ELECTRICAL ENERGY SOURCES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599" y="3581400"/>
            <a:ext cx="8175301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04800"/>
            <a:ext cx="8153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Independent Voltage Source:  </a:t>
            </a:r>
            <a:r>
              <a:rPr lang="en-US" dirty="0" smtClean="0"/>
              <a:t>An ideal voltage source has the following features.</a:t>
            </a:r>
          </a:p>
          <a:p>
            <a:pPr algn="just"/>
            <a:r>
              <a:rPr lang="en-US" dirty="0" smtClean="0"/>
              <a:t>(i) It is a voltage generator whose output voltage remains absolutely constant whatever be the value of the output current.</a:t>
            </a:r>
          </a:p>
          <a:p>
            <a:pPr algn="just"/>
            <a:r>
              <a:rPr lang="en-US" dirty="0" smtClean="0"/>
              <a:t>(ii) It has zero internal resistance so that voltage drop in the source is zero.</a:t>
            </a:r>
          </a:p>
          <a:p>
            <a:pPr algn="just"/>
            <a:r>
              <a:rPr lang="en-US" dirty="0" smtClean="0"/>
              <a:t>(iii) The power drawn by the source is zero.</a:t>
            </a:r>
            <a:endParaRPr 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828800"/>
            <a:ext cx="705802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52400" y="3733800"/>
            <a:ext cx="8610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In practical, the voltage does not remain constant, but falls slightly. This is taken care of by</a:t>
            </a:r>
          </a:p>
          <a:p>
            <a:pPr algn="just"/>
            <a:r>
              <a:rPr lang="en-US" dirty="0" smtClean="0"/>
              <a:t>connecting a small resistance (r) in series with the ideal source. In this case, the terminal voltage will be, </a:t>
            </a:r>
            <a:r>
              <a:rPr lang="en-US" dirty="0" err="1" smtClean="0"/>
              <a:t>v1</a:t>
            </a:r>
            <a:r>
              <a:rPr lang="en-US" dirty="0" smtClean="0"/>
              <a:t>(t) = v(t) – </a:t>
            </a:r>
            <a:r>
              <a:rPr lang="en-US" dirty="0" err="1" smtClean="0"/>
              <a:t>ir</a:t>
            </a:r>
            <a:r>
              <a:rPr lang="en-US" dirty="0" smtClean="0"/>
              <a:t>  i.e., it will decrease with increase in current i.</a:t>
            </a:r>
          </a:p>
          <a:p>
            <a:pPr algn="just"/>
            <a:r>
              <a:rPr lang="en-US" dirty="0" smtClean="0"/>
              <a:t>An ideal voltage source is not practically possible. No voltage source can maintain its terminal voltage constant even when its terminals are short-circuited. The terminal voltage of a practical voltage source decreases as the load current increases. The v-i characteristics of an ideal and practical voltage source are shown in Fig. A dc or ac generator or batteries are some examples of independent voltage sources. A lead-acid battery and a dry-cell are some examples of constant voltage source which can produce constant terminal voltage within a specified range of output current.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Independent Current Source:</a:t>
            </a:r>
            <a:r>
              <a:rPr lang="en-US" dirty="0" smtClean="0"/>
              <a:t> An ideal current source has the following features.</a:t>
            </a:r>
          </a:p>
          <a:p>
            <a:r>
              <a:rPr lang="en-US" dirty="0" smtClean="0"/>
              <a:t>(i) It produces a constant current irrespective of the value of the voltage across it.</a:t>
            </a:r>
          </a:p>
          <a:p>
            <a:r>
              <a:rPr lang="en-US" dirty="0" smtClean="0"/>
              <a:t>(ii) It has infinity resistance.</a:t>
            </a:r>
          </a:p>
          <a:p>
            <a:r>
              <a:rPr lang="en-US" dirty="0" smtClean="0"/>
              <a:t>(iii) It is capable of supplying infinity power.</a:t>
            </a:r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672465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381000" y="3124200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In practice, the output current does not remain constant but decreases with increase in voltage. So, a practical current source is represented by an ideal current source in parallel with a high resistance (R) and the output current becomes,</a:t>
            </a:r>
            <a:endParaRPr lang="en-US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4114800"/>
            <a:ext cx="16859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09600" y="4648200"/>
            <a:ext cx="8229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Similar to voltage sources, an ideal current source is not practically possible. No current source can maintain constant current even when its terminals are open-circuited. The output current of a practical current source decreases as the output voltage increases. The v-i characteristics of an ideal and practical current source are shown in Fig. A solar cell, which can produce constant current within a specified range of output voltage, is an example of independent current source. A natural lightning can be considered to be an ideal current source.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0"/>
            <a:ext cx="8077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Dependent Sources:  </a:t>
            </a:r>
            <a:r>
              <a:rPr lang="en-US" dirty="0" smtClean="0"/>
              <a:t>In dependent sources (also referred as controlled sources), the source voltage or current is not fixed, but is dependent on a voltage or current at some other location in the circuit. Thus, there are four types of dependent sources.</a:t>
            </a:r>
          </a:p>
          <a:p>
            <a:r>
              <a:rPr lang="en-US" dirty="0" smtClean="0"/>
              <a:t>(a) Voltage Controlled Voltage Source (</a:t>
            </a:r>
            <a:r>
              <a:rPr lang="en-US" dirty="0" err="1" smtClean="0"/>
              <a:t>VCVS</a:t>
            </a:r>
            <a:r>
              <a:rPr lang="en-US" dirty="0" smtClean="0"/>
              <a:t>)</a:t>
            </a:r>
          </a:p>
          <a:p>
            <a:r>
              <a:rPr lang="en-US" dirty="0" smtClean="0"/>
              <a:t>(b) Current Controlled Voltage Source (</a:t>
            </a:r>
            <a:r>
              <a:rPr lang="en-US" dirty="0" err="1" smtClean="0"/>
              <a:t>CCVS</a:t>
            </a:r>
            <a:r>
              <a:rPr lang="en-US" dirty="0" smtClean="0"/>
              <a:t>)</a:t>
            </a:r>
          </a:p>
          <a:p>
            <a:r>
              <a:rPr lang="en-US" dirty="0" smtClean="0"/>
              <a:t>(c) Voltage Controlled Current Source (</a:t>
            </a:r>
            <a:r>
              <a:rPr lang="en-US" dirty="0" err="1" smtClean="0"/>
              <a:t>VCCS</a:t>
            </a:r>
            <a:r>
              <a:rPr lang="en-US" dirty="0" smtClean="0"/>
              <a:t>)</a:t>
            </a:r>
          </a:p>
          <a:p>
            <a:r>
              <a:rPr lang="en-US" dirty="0" smtClean="0"/>
              <a:t>(d) Current Controlled Current Source (</a:t>
            </a:r>
            <a:r>
              <a:rPr lang="en-US" dirty="0" err="1" smtClean="0"/>
              <a:t>CCCS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438400"/>
            <a:ext cx="786765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609600" y="3718679"/>
            <a:ext cx="8001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Dependent sources are unilateral, because for a voltage controlled voltage source, say, </a:t>
            </a:r>
            <a:r>
              <a:rPr lang="en-US" dirty="0" err="1" smtClean="0"/>
              <a:t>v2</a:t>
            </a:r>
            <a:r>
              <a:rPr lang="en-US" dirty="0" smtClean="0"/>
              <a:t> = </a:t>
            </a:r>
            <a:r>
              <a:rPr lang="en-US" dirty="0" err="1" smtClean="0"/>
              <a:t>kv1</a:t>
            </a:r>
            <a:r>
              <a:rPr lang="en-US" dirty="0" smtClean="0"/>
              <a:t>, the output voltage </a:t>
            </a:r>
            <a:r>
              <a:rPr lang="en-US" dirty="0" err="1" smtClean="0"/>
              <a:t>v2</a:t>
            </a:r>
            <a:r>
              <a:rPr lang="en-US" dirty="0" smtClean="0"/>
              <a:t> is controlled by the input voltage </a:t>
            </a:r>
            <a:r>
              <a:rPr lang="en-US" dirty="0" err="1" smtClean="0"/>
              <a:t>v1</a:t>
            </a:r>
            <a:r>
              <a:rPr lang="en-US" dirty="0" smtClean="0"/>
              <a:t>, but the output current </a:t>
            </a:r>
            <a:r>
              <a:rPr lang="en-US" dirty="0" err="1" smtClean="0"/>
              <a:t>i2</a:t>
            </a:r>
            <a:r>
              <a:rPr lang="en-US" dirty="0" smtClean="0"/>
              <a:t> has no influence on the input </a:t>
            </a:r>
            <a:r>
              <a:rPr lang="en-US" dirty="0" err="1" smtClean="0"/>
              <a:t>v1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Application in electronic systems that uses either the transistors or vacuum tubes needs dependent sources.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04800"/>
            <a:ext cx="28477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Resistors in Series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38200"/>
            <a:ext cx="8153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If several resistors are connected together and connected to a battery, the current supplied by the battery depends on the </a:t>
            </a:r>
            <a:r>
              <a:rPr lang="en-US" b="1" dirty="0" smtClean="0"/>
              <a:t>equivalent resistance </a:t>
            </a:r>
            <a:r>
              <a:rPr lang="en-US" dirty="0" smtClean="0"/>
              <a:t> of the circuit. The equivalent resistance  of a combination of resistors depends on both their individual values and how they are connected. The simplest combinations of resistors are series and parallel connections</a:t>
            </a:r>
          </a:p>
          <a:p>
            <a:pPr algn="just"/>
            <a:r>
              <a:rPr lang="en-US" dirty="0" smtClean="0"/>
              <a:t>In a series circuit , the output current of the first resistor flows into the input of the second resistor; therefore</a:t>
            </a:r>
            <a:r>
              <a:rPr lang="en-US" b="1" dirty="0" smtClean="0"/>
              <a:t>, the current is the same in each resistor.</a:t>
            </a:r>
          </a:p>
        </p:txBody>
      </p:sp>
      <p:pic>
        <p:nvPicPr>
          <p:cNvPr id="34820" name="Picture 4" descr="Part a shows original circuit with three resistors connected in series to a voltage source and part b shows the equivalent circuit with one equivalent resistor connected to the voltage source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1" y="2895600"/>
            <a:ext cx="3124199" cy="3790950"/>
          </a:xfrm>
          <a:prstGeom prst="rect">
            <a:avLst/>
          </a:prstGeom>
          <a:noFill/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0" y="2667000"/>
            <a:ext cx="15049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3276600"/>
            <a:ext cx="29051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3581400"/>
            <a:ext cx="25431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48200" y="4191000"/>
            <a:ext cx="208597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5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781800" y="4191000"/>
            <a:ext cx="9334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4724400" y="5105400"/>
            <a:ext cx="38745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 series circuit:</a:t>
            </a:r>
          </a:p>
          <a:p>
            <a:pPr marL="342900" indent="-342900">
              <a:buAutoNum type="arabicParenR"/>
            </a:pPr>
            <a:r>
              <a:rPr lang="en-US" b="1" dirty="0" smtClean="0">
                <a:solidFill>
                  <a:srgbClr val="FF0000"/>
                </a:solidFill>
              </a:rPr>
              <a:t>Total current is same in all resistors</a:t>
            </a:r>
          </a:p>
          <a:p>
            <a:pPr marL="342900" indent="-342900">
              <a:buAutoNum type="arabicParenR"/>
            </a:pPr>
            <a:r>
              <a:rPr lang="en-US" b="1" dirty="0" smtClean="0">
                <a:solidFill>
                  <a:srgbClr val="FF0000"/>
                </a:solidFill>
              </a:rPr>
              <a:t>Voltage drops are additive</a:t>
            </a:r>
          </a:p>
          <a:p>
            <a:pPr marL="342900" indent="-342900">
              <a:buAutoNum type="arabicParenR"/>
            </a:pPr>
            <a:r>
              <a:rPr lang="en-US" b="1" dirty="0" smtClean="0">
                <a:solidFill>
                  <a:srgbClr val="FF0000"/>
                </a:solidFill>
              </a:rPr>
              <a:t>Powers are additive</a:t>
            </a:r>
          </a:p>
          <a:p>
            <a:pPr marL="342900" indent="-342900">
              <a:buAutoNum type="arabicParenR"/>
            </a:pPr>
            <a:r>
              <a:rPr lang="en-US" b="1" dirty="0" smtClean="0">
                <a:solidFill>
                  <a:srgbClr val="FF0000"/>
                </a:solidFill>
              </a:rPr>
              <a:t>Equivalent Resistance is increased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04800"/>
            <a:ext cx="30620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Resistors in Parallel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38200"/>
            <a:ext cx="8153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Resistors are in parallel when one end of all the resistors are connected by a continuous wire of negligible resistance and the other end of all the resistors are also connected to one another through a continuous wire of negligible resistance. The potential drop  across each resistor is the same. Current through each resistor can be found using Ohm ’s law I=V/R,</a:t>
            </a:r>
          </a:p>
          <a:p>
            <a:r>
              <a:rPr lang="en-US" dirty="0" smtClean="0"/>
              <a:t> In a Parallel circuit ,</a:t>
            </a:r>
            <a:r>
              <a:rPr lang="en-US" b="1" dirty="0" smtClean="0"/>
              <a:t> the voltage is the same across each resistor.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5410200"/>
            <a:ext cx="38198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 Parallel circuit:</a:t>
            </a:r>
          </a:p>
          <a:p>
            <a:pPr marL="342900" indent="-342900">
              <a:buAutoNum type="arabicParenR"/>
            </a:pPr>
            <a:r>
              <a:rPr lang="en-US" b="1" dirty="0" smtClean="0">
                <a:solidFill>
                  <a:srgbClr val="FF0000"/>
                </a:solidFill>
              </a:rPr>
              <a:t>Voltage is same in all resistors</a:t>
            </a:r>
          </a:p>
          <a:p>
            <a:pPr marL="342900" indent="-342900">
              <a:buAutoNum type="arabicParenR"/>
            </a:pPr>
            <a:r>
              <a:rPr lang="en-US" b="1" dirty="0" smtClean="0">
                <a:solidFill>
                  <a:srgbClr val="FF0000"/>
                </a:solidFill>
              </a:rPr>
              <a:t>Currents are additive</a:t>
            </a:r>
          </a:p>
          <a:p>
            <a:pPr marL="342900" indent="-342900">
              <a:buAutoNum type="arabicParenR"/>
            </a:pPr>
            <a:r>
              <a:rPr lang="en-US" b="1" dirty="0" smtClean="0">
                <a:solidFill>
                  <a:srgbClr val="FF0000"/>
                </a:solidFill>
              </a:rPr>
              <a:t>Equivalent Resistance is decreased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5842" name="Picture 2" descr="Part a shows original circuit with two resistors connected in parallel to a voltage source and part b shows the equivalent circuit with one equivalent resistor connected to the voltage sourc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048000"/>
            <a:ext cx="4038600" cy="3457576"/>
          </a:xfrm>
          <a:prstGeom prst="rect">
            <a:avLst/>
          </a:prstGeom>
          <a:noFill/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2590800"/>
            <a:ext cx="1905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00800" y="2743200"/>
            <a:ext cx="25146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05400" y="4724400"/>
            <a:ext cx="25431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1000"/>
            <a:ext cx="2924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Inductors in Series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838200"/>
            <a:ext cx="3276600" cy="2221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066800" y="3276600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v = </a:t>
            </a:r>
            <a:r>
              <a:rPr lang="en-US" i="1" dirty="0" err="1" smtClean="0"/>
              <a:t>v</a:t>
            </a:r>
            <a:r>
              <a:rPr lang="en-US" i="1" baseline="-25000" dirty="0" err="1" smtClean="0"/>
              <a:t>1</a:t>
            </a:r>
            <a:r>
              <a:rPr lang="en-US" i="1" dirty="0" smtClean="0"/>
              <a:t> + </a:t>
            </a:r>
            <a:r>
              <a:rPr lang="en-US" i="1" dirty="0" err="1" smtClean="0"/>
              <a:t>v</a:t>
            </a:r>
            <a:r>
              <a:rPr lang="en-US" i="1" baseline="-25000" dirty="0" err="1" smtClean="0"/>
              <a:t>2</a:t>
            </a:r>
            <a:r>
              <a:rPr lang="en-US" i="1" baseline="-25000" dirty="0" smtClean="0"/>
              <a:t>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90600" y="3733800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 smtClean="0"/>
              <a:t>v1</a:t>
            </a:r>
            <a:r>
              <a:rPr lang="en-US" i="1" baseline="-25000" dirty="0" smtClean="0"/>
              <a:t> </a:t>
            </a:r>
            <a:r>
              <a:rPr lang="en-US" i="1" dirty="0" smtClean="0"/>
              <a:t>= L1 .</a:t>
            </a:r>
            <a:r>
              <a:rPr lang="en-US" i="1" dirty="0" err="1" smtClean="0"/>
              <a:t>di</a:t>
            </a:r>
            <a:r>
              <a:rPr lang="en-US" i="1" dirty="0" smtClean="0"/>
              <a:t>/dt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66800" y="4191000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 smtClean="0"/>
              <a:t>v2</a:t>
            </a:r>
            <a:r>
              <a:rPr lang="en-US" i="1" baseline="-25000" dirty="0" smtClean="0"/>
              <a:t> </a:t>
            </a:r>
            <a:r>
              <a:rPr lang="en-US" i="1" dirty="0" smtClean="0"/>
              <a:t>= L2 .</a:t>
            </a:r>
            <a:r>
              <a:rPr lang="en-US" i="1" dirty="0" err="1" smtClean="0"/>
              <a:t>di</a:t>
            </a:r>
            <a:r>
              <a:rPr lang="en-US" i="1" dirty="0" smtClean="0"/>
              <a:t>/dt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04800" y="4648200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i="1" dirty="0" smtClean="0"/>
              <a:t>v = L</a:t>
            </a:r>
            <a:r>
              <a:rPr lang="it-IT" i="1" baseline="-25000" dirty="0" smtClean="0"/>
              <a:t>1 </a:t>
            </a:r>
            <a:r>
              <a:rPr lang="it-IT" i="1" dirty="0" smtClean="0"/>
              <a:t>.di /dt + L</a:t>
            </a:r>
            <a:r>
              <a:rPr lang="it-IT" i="1" baseline="-25000" dirty="0" smtClean="0"/>
              <a:t>2</a:t>
            </a:r>
            <a:r>
              <a:rPr lang="it-IT" i="1" dirty="0" smtClean="0"/>
              <a:t>.di /dt  = (L</a:t>
            </a:r>
            <a:r>
              <a:rPr lang="it-IT" i="1" baseline="-25000" dirty="0" smtClean="0"/>
              <a:t>1</a:t>
            </a:r>
            <a:r>
              <a:rPr lang="it-IT" i="1" dirty="0" smtClean="0"/>
              <a:t> + L</a:t>
            </a:r>
            <a:r>
              <a:rPr lang="it-IT" i="1" baseline="-25000" dirty="0" smtClean="0"/>
              <a:t>2</a:t>
            </a:r>
            <a:r>
              <a:rPr lang="it-IT" i="1" dirty="0" smtClean="0"/>
              <a:t>) .di/dt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90600" y="5105400"/>
            <a:ext cx="1431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v = </a:t>
            </a:r>
            <a:r>
              <a:rPr lang="en-US" i="1" dirty="0" err="1" smtClean="0"/>
              <a:t>L</a:t>
            </a:r>
            <a:r>
              <a:rPr lang="en-US" i="1" baseline="-25000" dirty="0" err="1" smtClean="0"/>
              <a:t>eq</a:t>
            </a:r>
            <a:r>
              <a:rPr lang="en-US" i="1" dirty="0" smtClean="0"/>
              <a:t>. </a:t>
            </a:r>
            <a:r>
              <a:rPr lang="en-US" i="1" dirty="0" err="1" smtClean="0"/>
              <a:t>di</a:t>
            </a:r>
            <a:r>
              <a:rPr lang="en-US" i="1" dirty="0" smtClean="0"/>
              <a:t> /dt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28600" y="5486400"/>
            <a:ext cx="411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i="1" dirty="0" smtClean="0"/>
              <a:t>(L</a:t>
            </a:r>
            <a:r>
              <a:rPr lang="it-IT" i="1" baseline="-25000" dirty="0" smtClean="0"/>
              <a:t>1 </a:t>
            </a:r>
            <a:r>
              <a:rPr lang="it-IT" i="1" dirty="0" smtClean="0"/>
              <a:t>+ L</a:t>
            </a:r>
            <a:r>
              <a:rPr lang="it-IT" i="1" baseline="-25000" dirty="0" smtClean="0"/>
              <a:t>2</a:t>
            </a:r>
            <a:r>
              <a:rPr lang="it-IT" i="1" dirty="0" smtClean="0"/>
              <a:t>) .di /dt = L</a:t>
            </a:r>
            <a:r>
              <a:rPr lang="it-IT" i="1" baseline="-25000" dirty="0" smtClean="0"/>
              <a:t>eq</a:t>
            </a:r>
            <a:r>
              <a:rPr lang="it-IT" i="1" dirty="0" smtClean="0"/>
              <a:t>. di /dt ∴ </a:t>
            </a:r>
            <a:r>
              <a:rPr lang="it-IT" b="1" i="1" dirty="0" smtClean="0"/>
              <a:t>L</a:t>
            </a:r>
            <a:r>
              <a:rPr lang="it-IT" b="1" i="1" baseline="-25000" dirty="0" smtClean="0"/>
              <a:t>eq </a:t>
            </a:r>
            <a:r>
              <a:rPr lang="it-IT" b="1" i="1" dirty="0" smtClean="0"/>
              <a:t>= L</a:t>
            </a:r>
            <a:r>
              <a:rPr lang="it-IT" b="1" i="1" baseline="-25000" dirty="0" smtClean="0"/>
              <a:t>1 </a:t>
            </a:r>
            <a:r>
              <a:rPr lang="it-IT" b="1" i="1" dirty="0" smtClean="0"/>
              <a:t>+ L</a:t>
            </a:r>
            <a:r>
              <a:rPr lang="it-IT" b="1" i="1" baseline="-25000" dirty="0" smtClean="0"/>
              <a:t>2</a:t>
            </a:r>
            <a:endParaRPr lang="en-US" dirty="0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228600" y="6019800"/>
            <a:ext cx="4572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cs typeface="Arial" pitchFamily="34" charset="0"/>
              </a:rPr>
              <a:t>Clearly, for N inductors we can say that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</a:t>
            </a:r>
            <a:r>
              <a:rPr kumimoji="0" lang="en-US" b="1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eq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= L</a:t>
            </a:r>
            <a:r>
              <a:rPr kumimoji="0" lang="en-US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1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+ L</a:t>
            </a:r>
            <a:r>
              <a:rPr kumimoji="0" lang="en-US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2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+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</a:t>
            </a:r>
            <a:r>
              <a:rPr kumimoji="0" lang="en-US" b="1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3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+.......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</a:t>
            </a:r>
            <a:r>
              <a:rPr kumimoji="0" lang="en-US" b="1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n</a:t>
            </a:r>
            <a:endParaRPr kumimoji="0" lang="en-US" b="1" i="0" u="none" strike="noStrike" cap="none" normalizeH="0" baseline="-3000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81600" y="457200"/>
            <a:ext cx="3138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Inductors in Parallel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914400"/>
            <a:ext cx="363855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5943600" y="3581400"/>
            <a:ext cx="1415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 smtClean="0"/>
              <a:t>i</a:t>
            </a:r>
            <a:r>
              <a:rPr lang="en-US" i="1" baseline="-25000" dirty="0" err="1" smtClean="0"/>
              <a:t>L</a:t>
            </a:r>
            <a:r>
              <a:rPr lang="en-US" i="1" baseline="-25000" dirty="0" smtClean="0"/>
              <a:t> </a:t>
            </a:r>
            <a:r>
              <a:rPr lang="en-US" i="1" dirty="0" smtClean="0"/>
              <a:t>= 1 / L ∫</a:t>
            </a:r>
            <a:r>
              <a:rPr lang="en-US" i="1" dirty="0" err="1" smtClean="0"/>
              <a:t>V.dt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6096000" y="3200400"/>
            <a:ext cx="9781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i =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1</a:t>
            </a:r>
            <a:r>
              <a:rPr lang="en-US" i="1" baseline="-25000" dirty="0" smtClean="0"/>
              <a:t> </a:t>
            </a:r>
            <a:r>
              <a:rPr lang="en-US" i="1" dirty="0" smtClean="0"/>
              <a:t>+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2</a:t>
            </a:r>
            <a:r>
              <a:rPr lang="en-US" i="1" dirty="0" smtClean="0"/>
              <a:t>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486400" y="3962400"/>
            <a:ext cx="2710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n-NO" i="1" dirty="0" smtClean="0"/>
              <a:t>i = 1 / L</a:t>
            </a:r>
            <a:r>
              <a:rPr lang="nn-NO" i="1" baseline="-25000" dirty="0" smtClean="0"/>
              <a:t>1</a:t>
            </a:r>
            <a:r>
              <a:rPr lang="nn-NO" i="1" dirty="0" smtClean="0"/>
              <a:t> ∫V.dt + 1 / L</a:t>
            </a:r>
            <a:r>
              <a:rPr lang="nn-NO" i="1" baseline="-25000" dirty="0" smtClean="0"/>
              <a:t>2</a:t>
            </a:r>
            <a:r>
              <a:rPr lang="nn-NO" i="1" dirty="0" smtClean="0"/>
              <a:t> ∫V.dt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867400" y="4419600"/>
            <a:ext cx="157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i = 1 / </a:t>
            </a:r>
            <a:r>
              <a:rPr lang="en-US" i="1" dirty="0" err="1" smtClean="0"/>
              <a:t>L</a:t>
            </a:r>
            <a:r>
              <a:rPr lang="en-US" i="1" baseline="-25000" dirty="0" err="1" smtClean="0"/>
              <a:t>eq</a:t>
            </a:r>
            <a:r>
              <a:rPr lang="en-US" i="1" dirty="0" smtClean="0"/>
              <a:t> ∫</a:t>
            </a:r>
            <a:r>
              <a:rPr lang="en-US" i="1" dirty="0" err="1" smtClean="0"/>
              <a:t>V.dt</a:t>
            </a:r>
            <a:r>
              <a:rPr lang="en-US" i="1" dirty="0" smtClean="0"/>
              <a:t> 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876800" y="4876800"/>
            <a:ext cx="388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1 / </a:t>
            </a:r>
            <a:r>
              <a:rPr lang="en-US" i="1" dirty="0" err="1" smtClean="0"/>
              <a:t>L</a:t>
            </a:r>
            <a:r>
              <a:rPr lang="en-US" i="1" baseline="-25000" dirty="0" err="1" smtClean="0"/>
              <a:t>eq</a:t>
            </a:r>
            <a:r>
              <a:rPr lang="en-US" i="1" dirty="0" smtClean="0"/>
              <a:t> ∫V .dt = 1 / L</a:t>
            </a:r>
            <a:r>
              <a:rPr lang="en-US" i="1" baseline="-25000" dirty="0" smtClean="0"/>
              <a:t>1</a:t>
            </a:r>
            <a:r>
              <a:rPr lang="en-US" i="1" dirty="0" smtClean="0"/>
              <a:t> ∫</a:t>
            </a:r>
            <a:r>
              <a:rPr lang="en-US" i="1" dirty="0" err="1" smtClean="0"/>
              <a:t>V.dt</a:t>
            </a:r>
            <a:r>
              <a:rPr lang="en-US" i="1" dirty="0" smtClean="0"/>
              <a:t> + 1 / L</a:t>
            </a:r>
            <a:r>
              <a:rPr lang="en-US" i="1" baseline="-25000" dirty="0" smtClean="0"/>
              <a:t>2</a:t>
            </a:r>
            <a:r>
              <a:rPr lang="en-US" i="1" dirty="0" smtClean="0"/>
              <a:t> ∫</a:t>
            </a:r>
            <a:r>
              <a:rPr lang="en-US" i="1" dirty="0" err="1" smtClean="0"/>
              <a:t>V.dt</a:t>
            </a:r>
            <a:r>
              <a:rPr lang="en-US" i="1" dirty="0" smtClean="0"/>
              <a:t> </a:t>
            </a:r>
          </a:p>
          <a:p>
            <a:r>
              <a:rPr lang="en-US" i="1" dirty="0" smtClean="0"/>
              <a:t>∴ 1 / </a:t>
            </a:r>
            <a:r>
              <a:rPr lang="en-US" i="1" dirty="0" err="1" smtClean="0"/>
              <a:t>L</a:t>
            </a:r>
            <a:r>
              <a:rPr lang="en-US" i="1" baseline="-25000" dirty="0" err="1" smtClean="0"/>
              <a:t>eq</a:t>
            </a:r>
            <a:r>
              <a:rPr lang="en-US" i="1" baseline="-25000" dirty="0" smtClean="0"/>
              <a:t> </a:t>
            </a:r>
            <a:r>
              <a:rPr lang="en-US" i="1" dirty="0" smtClean="0"/>
              <a:t>= 1 / L</a:t>
            </a:r>
            <a:r>
              <a:rPr lang="en-US" i="1" baseline="-25000" dirty="0" smtClean="0"/>
              <a:t>1 </a:t>
            </a:r>
            <a:r>
              <a:rPr lang="en-US" i="1" dirty="0" smtClean="0"/>
              <a:t>+ 1 / L</a:t>
            </a:r>
            <a:r>
              <a:rPr lang="en-US" i="1" baseline="-25000" dirty="0" smtClean="0"/>
              <a:t>2</a:t>
            </a:r>
            <a:endParaRPr lang="en-US" dirty="0"/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4267200" y="5638800"/>
            <a:ext cx="46482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cs typeface="Arial" pitchFamily="34" charset="0"/>
              </a:rPr>
              <a:t>Clearly, for N inductors we can say that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1 /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</a:t>
            </a:r>
            <a:r>
              <a:rPr kumimoji="0" lang="en-US" b="1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eq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= 1 / L</a:t>
            </a:r>
            <a:r>
              <a:rPr kumimoji="0" lang="en-US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1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+1 / L</a:t>
            </a:r>
            <a:r>
              <a:rPr kumimoji="0" lang="en-US" b="1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2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+ 1 /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</a:t>
            </a:r>
            <a:r>
              <a:rPr kumimoji="0" lang="en-US" b="1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3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.....................+ 1 /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</a:t>
            </a:r>
            <a:r>
              <a:rPr kumimoji="0" lang="en-US" b="1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n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1000"/>
            <a:ext cx="30782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Capacitors in Series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81600" y="76200"/>
            <a:ext cx="32925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Capacitors in Parallel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7890" name="Picture 2" descr="capacitor in seri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914400"/>
            <a:ext cx="3429000" cy="1790701"/>
          </a:xfrm>
          <a:prstGeom prst="rect">
            <a:avLst/>
          </a:prstGeom>
          <a:noFill/>
        </p:spPr>
      </p:pic>
      <p:pic>
        <p:nvPicPr>
          <p:cNvPr id="37892" name="Picture 4" descr="https://www.electrical4u.com/images/february16/1458571720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895600"/>
            <a:ext cx="3609975" cy="276225"/>
          </a:xfrm>
          <a:prstGeom prst="rect">
            <a:avLst/>
          </a:prstGeom>
          <a:noFill/>
        </p:spPr>
      </p:pic>
      <p:pic>
        <p:nvPicPr>
          <p:cNvPr id="37894" name="Picture 6" descr="https://www.electrical4u.com/images/february16/1458571962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276600"/>
            <a:ext cx="4648200" cy="485775"/>
          </a:xfrm>
          <a:prstGeom prst="rect">
            <a:avLst/>
          </a:prstGeom>
          <a:noFill/>
        </p:spPr>
      </p:pic>
      <p:pic>
        <p:nvPicPr>
          <p:cNvPr id="37896" name="Picture 8" descr="https://www.electrical4u.com/images/february16/1458572403.G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" y="3886200"/>
            <a:ext cx="5181600" cy="1524000"/>
          </a:xfrm>
          <a:prstGeom prst="rect">
            <a:avLst/>
          </a:prstGeom>
          <a:noFill/>
        </p:spPr>
      </p:pic>
      <p:pic>
        <p:nvPicPr>
          <p:cNvPr id="37899" name="Picture 11" descr="https://www.electrical4u.com/images/2018/march18/1520946727.GIF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0" y="2362200"/>
            <a:ext cx="1219200" cy="327303"/>
          </a:xfrm>
          <a:prstGeom prst="rect">
            <a:avLst/>
          </a:prstGeom>
          <a:noFill/>
        </p:spPr>
      </p:pic>
      <p:pic>
        <p:nvPicPr>
          <p:cNvPr id="37901" name="Picture 13" descr="https://www.electrical4u.com/images/2018/march18/1520947028.GIF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629400" y="2590800"/>
            <a:ext cx="1905000" cy="450126"/>
          </a:xfrm>
          <a:prstGeom prst="rect">
            <a:avLst/>
          </a:prstGeom>
          <a:noFill/>
        </p:spPr>
      </p:pic>
      <p:pic>
        <p:nvPicPr>
          <p:cNvPr id="37903" name="Picture 15" descr="https://www.electrical4u.com/images/2018/march18/1520947733.GIF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400800" y="3048000"/>
            <a:ext cx="561975" cy="438151"/>
          </a:xfrm>
          <a:prstGeom prst="rect">
            <a:avLst/>
          </a:prstGeom>
          <a:noFill/>
        </p:spPr>
      </p:pic>
      <p:pic>
        <p:nvPicPr>
          <p:cNvPr id="37905" name="Picture 17" descr="https://www.electrical4u.com/images/2018/march18/1520954520.GIF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096000" y="3505200"/>
            <a:ext cx="2667000" cy="495301"/>
          </a:xfrm>
          <a:prstGeom prst="rect">
            <a:avLst/>
          </a:prstGeom>
          <a:noFill/>
        </p:spPr>
      </p:pic>
      <p:pic>
        <p:nvPicPr>
          <p:cNvPr id="37907" name="Picture 19" descr="https://www.electrical4u.com/images/2018/march18/1520954663.GIF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705600" y="3962400"/>
            <a:ext cx="800100" cy="523875"/>
          </a:xfrm>
          <a:prstGeom prst="rect">
            <a:avLst/>
          </a:prstGeom>
          <a:noFill/>
        </p:spPr>
      </p:pic>
      <p:pic>
        <p:nvPicPr>
          <p:cNvPr id="37909" name="Picture 21" descr="https://www.electrical4u.com/images/2018/march18/1520955165.GIF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019800" y="4495800"/>
            <a:ext cx="2209800" cy="851182"/>
          </a:xfrm>
          <a:prstGeom prst="rect">
            <a:avLst/>
          </a:prstGeom>
          <a:noFill/>
        </p:spPr>
      </p:pic>
      <p:pic>
        <p:nvPicPr>
          <p:cNvPr id="37911" name="Picture 23" descr="https://www.electrical4u.com/images/2018/march18/1520955881.GIF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724400" y="5257800"/>
            <a:ext cx="4152900" cy="857251"/>
          </a:xfrm>
          <a:prstGeom prst="rect">
            <a:avLst/>
          </a:prstGeom>
          <a:noFill/>
        </p:spPr>
      </p:pic>
      <p:pic>
        <p:nvPicPr>
          <p:cNvPr id="37912" name="Picture 24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5638800" y="457200"/>
            <a:ext cx="2667000" cy="1914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914" name="Picture 26" descr="https://www.electrical4u.com/images/2018/march18/1520956243.GIF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943600" y="6078474"/>
            <a:ext cx="1676400" cy="7795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81000"/>
            <a:ext cx="33303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Current Division Rule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066800"/>
            <a:ext cx="3476625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276600"/>
            <a:ext cx="248602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5029200"/>
            <a:ext cx="404812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1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" y="6019800"/>
            <a:ext cx="320992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19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67200" y="1295400"/>
            <a:ext cx="44005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0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953000" y="2133600"/>
            <a:ext cx="290512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1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48200" y="2971800"/>
            <a:ext cx="401002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2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638800" y="4419600"/>
            <a:ext cx="26574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3" name="Picture 1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52401" y="3886200"/>
            <a:ext cx="50292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4" name="Picture 1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762000" y="4267200"/>
            <a:ext cx="242887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81000"/>
            <a:ext cx="33217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Voltage Division Rule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90600"/>
            <a:ext cx="402907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3048000"/>
            <a:ext cx="262890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3505200"/>
            <a:ext cx="23907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14400" y="3962400"/>
            <a:ext cx="30861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38200" y="4343400"/>
            <a:ext cx="24384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62000" y="4953000"/>
            <a:ext cx="4876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4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14400" y="5257800"/>
            <a:ext cx="211455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5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334000" y="914400"/>
            <a:ext cx="273367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6" name="Picture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486400" y="1676400"/>
            <a:ext cx="96202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7" name="Picture 11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486400" y="2057400"/>
            <a:ext cx="211455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8" name="Picture 12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5181600" y="2743200"/>
            <a:ext cx="28194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81000"/>
            <a:ext cx="51584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Source Transformation Technique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3400" y="1066800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An </a:t>
            </a:r>
            <a:r>
              <a:rPr lang="en-US" b="1" dirty="0" smtClean="0"/>
              <a:t>electrical source transformation</a:t>
            </a:r>
            <a:r>
              <a:rPr lang="en-US" dirty="0" smtClean="0"/>
              <a:t> (or just ”source transformation”) is a method for simplifying circuits by replacing a voltage source with its equivalent current source, or a current source with its equivalent voltage source.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33400" y="2133600"/>
            <a:ext cx="4148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Voltage to Current Source Transformation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9600" y="2514600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Consider a practical voltage of V volts having a series internal resistance </a:t>
            </a:r>
            <a:r>
              <a:rPr lang="en-US" dirty="0" err="1" smtClean="0"/>
              <a:t>R</a:t>
            </a:r>
            <a:r>
              <a:rPr lang="en-US" baseline="-25000" dirty="0" err="1" smtClean="0"/>
              <a:t>int</a:t>
            </a:r>
            <a:r>
              <a:rPr lang="en-US" dirty="0" smtClean="0"/>
              <a:t> ohms. A load resistance of R</a:t>
            </a:r>
            <a:r>
              <a:rPr lang="en-US" baseline="-25000" dirty="0" smtClean="0"/>
              <a:t>L</a:t>
            </a:r>
            <a:r>
              <a:rPr lang="en-US" dirty="0" smtClean="0"/>
              <a:t> ohms is connected across the load terminals.</a:t>
            </a:r>
            <a:endParaRPr lang="en-US" dirty="0"/>
          </a:p>
        </p:txBody>
      </p:sp>
      <p:pic>
        <p:nvPicPr>
          <p:cNvPr id="40962" name="Picture 2" descr="https://www.tutorialspoint.com/assets/questions/media/53424/voltage_source_transformati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124200"/>
            <a:ext cx="6667500" cy="23812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286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Therefore, by referring the circuit of practical voltage source, the load current is</a:t>
            </a:r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533400"/>
            <a:ext cx="65627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1447800"/>
            <a:ext cx="28670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28800" y="2209800"/>
            <a:ext cx="34385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00200" y="3124200"/>
            <a:ext cx="25241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33400" y="4114800"/>
            <a:ext cx="8153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Thus, a practical voltage source of constant voltage V and internal resistance </a:t>
            </a:r>
            <a:r>
              <a:rPr lang="en-US" dirty="0" err="1" smtClean="0"/>
              <a:t>R</a:t>
            </a:r>
            <a:r>
              <a:rPr lang="en-US" baseline="-25000" dirty="0" err="1" smtClean="0"/>
              <a:t>int</a:t>
            </a:r>
            <a:r>
              <a:rPr lang="en-US" dirty="0" smtClean="0"/>
              <a:t> is equivalent to a current source of current </a:t>
            </a:r>
            <a:r>
              <a:rPr lang="en-US" i="1" dirty="0" smtClean="0"/>
              <a:t>I = V/</a:t>
            </a:r>
            <a:r>
              <a:rPr lang="en-US" i="1" dirty="0" err="1" smtClean="0"/>
              <a:t>R</a:t>
            </a:r>
            <a:r>
              <a:rPr lang="en-US" i="1" baseline="-25000" dirty="0" err="1" smtClean="0"/>
              <a:t>int</a:t>
            </a:r>
            <a:r>
              <a:rPr lang="en-US" dirty="0" smtClean="0"/>
              <a:t> and internal resistance </a:t>
            </a:r>
            <a:r>
              <a:rPr lang="en-US" dirty="0" err="1" smtClean="0"/>
              <a:t>R</a:t>
            </a:r>
            <a:r>
              <a:rPr lang="en-US" baseline="-25000" dirty="0" err="1" smtClean="0"/>
              <a:t>int</a:t>
            </a:r>
            <a:r>
              <a:rPr lang="en-US" dirty="0" smtClean="0"/>
              <a:t> in parallel with current source.</a:t>
            </a:r>
          </a:p>
          <a:p>
            <a:pPr algn="just"/>
            <a:r>
              <a:rPr lang="en-US" dirty="0" smtClean="0"/>
              <a:t>Here, the internal resistance of the equivalent current source has the same value as the internal resistance of the voltage source.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1000"/>
            <a:ext cx="4148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Current to Voltage Source Transformation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838200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Consider a practical current source of constant current I amperes with a parallel internal resistance </a:t>
            </a:r>
            <a:r>
              <a:rPr lang="en-US" dirty="0" err="1" smtClean="0"/>
              <a:t>R</a:t>
            </a:r>
            <a:r>
              <a:rPr lang="en-US" baseline="-25000" dirty="0" err="1" smtClean="0"/>
              <a:t>int</a:t>
            </a:r>
            <a:r>
              <a:rPr lang="en-US" dirty="0" smtClean="0"/>
              <a:t>, it can be converted into an equivalent voltage source as follows.</a:t>
            </a:r>
            <a:endParaRPr lang="en-US" dirty="0"/>
          </a:p>
        </p:txBody>
      </p:sp>
      <p:pic>
        <p:nvPicPr>
          <p:cNvPr id="43010" name="Picture 2" descr="https://www.tutorialspoint.com/assets/questions/media/53424/voltage_sourc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600200"/>
            <a:ext cx="5410200" cy="1932214"/>
          </a:xfrm>
          <a:prstGeom prst="rect">
            <a:avLst/>
          </a:prstGeom>
          <a:noFill/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3657600"/>
            <a:ext cx="4648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3886200"/>
            <a:ext cx="3009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4724400"/>
            <a:ext cx="49530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400" y="4953000"/>
            <a:ext cx="53340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953000" y="3581400"/>
            <a:ext cx="372427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257800" y="3886200"/>
            <a:ext cx="3390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7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096000" y="4648200"/>
            <a:ext cx="173355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8" name="Picture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638800" y="5410200"/>
            <a:ext cx="23622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381000" y="5943600"/>
            <a:ext cx="845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smtClean="0"/>
              <a:t>Therefore, a current source can be converted into an equivalent voltage source, where the value of voltage of the equivalent voltage source is </a:t>
            </a:r>
            <a:r>
              <a:rPr lang="en-US" sz="1600" b="1" i="1" dirty="0" smtClean="0"/>
              <a:t>V = </a:t>
            </a:r>
            <a:r>
              <a:rPr lang="en-US" sz="1600" b="1" i="1" dirty="0" err="1" smtClean="0"/>
              <a:t>IR</a:t>
            </a:r>
            <a:r>
              <a:rPr lang="en-US" sz="1600" b="1" i="1" baseline="-25000" dirty="0" err="1" smtClean="0"/>
              <a:t>int</a:t>
            </a:r>
            <a:r>
              <a:rPr lang="en-US" sz="1600" dirty="0" smtClean="0"/>
              <a:t> and the series resistance </a:t>
            </a:r>
            <a:r>
              <a:rPr lang="en-US" sz="1600" b="1" i="1" dirty="0" err="1" smtClean="0"/>
              <a:t>R</a:t>
            </a:r>
            <a:r>
              <a:rPr lang="en-US" sz="1600" b="1" i="1" baseline="-25000" dirty="0" err="1" smtClean="0"/>
              <a:t>int</a:t>
            </a:r>
            <a:r>
              <a:rPr lang="en-US" sz="1600" dirty="0" smtClean="0"/>
              <a:t> of voltage source has the same value as the parallel resistance of the current source.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5212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Problems on Resistance and Ohm’s Law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990600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 potential difference across 24 Ω resistor is 12 V. What is the current through the resistor?</a:t>
            </a:r>
            <a:endParaRPr lang="en-US" b="1" dirty="0"/>
          </a:p>
        </p:txBody>
      </p:sp>
      <p:pic>
        <p:nvPicPr>
          <p:cNvPr id="45058" name="Picture 2" descr="https://img.brainkart.com/imagebk39/LcnPPk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0"/>
            <a:ext cx="3209925" cy="2047876"/>
          </a:xfrm>
          <a:prstGeom prst="rect">
            <a:avLst/>
          </a:prstGeom>
          <a:noFill/>
        </p:spPr>
      </p:pic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3810000" y="1676400"/>
            <a:ext cx="4953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V = 12 V and R = 24 Ω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Current, I = ?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From Ohm’s law, I = V/R = 12/24 = 0 .5 A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36576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As shown in the circuit below, a current of 4 A is flowing through the resistance of 15 Ω. Determine the voltage drop across the circuit using ohm’s law.</a:t>
            </a:r>
            <a:endParaRPr lang="en-US" b="1" dirty="0"/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4572000"/>
            <a:ext cx="2813897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064" name="AutoShape 8" descr="\begin{align*} \begin{split} V = I * R \\    = 4*15 \\ V = 60 \,\, Volts \end{split} \end{align*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66" name="AutoShape 10" descr="\begin{align*} \begin{split} V = I * R \\    = 4*15 \\ V = 60 \,\, Volts \end{split} \end{align*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68" name="AutoShape 12" descr="\begin{align*} \begin{split} V = I * R \\    = 4*15 \\ V = 60 \,\, Volts \end{split} \end{align*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70" name="AutoShape 14" descr="\begin{align*} \begin{split} V = I * R \\    = 4*15 \\ V = 60 \,\, Volts \end{split} \end{align*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105400" y="5105400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 = 4 * 15 = </a:t>
            </a:r>
            <a:r>
              <a:rPr lang="en-US" dirty="0" err="1" smtClean="0"/>
              <a:t>60V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5212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Problems on Resistance and Ohm’s Law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5064" name="AutoShape 8" descr="\begin{align*} \begin{split} V = I * R \\    = 4*15 \\ V = 60 \,\, Volts \end{split} \end{align*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66" name="AutoShape 10" descr="\begin{align*} \begin{split} V = I * R \\    = 4*15 \\ V = 60 \,\, Volts \end{split} \end{align*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68" name="AutoShape 12" descr="\begin{align*} \begin{split} V = I * R \\    = 4*15 \\ V = 60 \,\, Volts \end{split} \end{align*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70" name="AutoShape 14" descr="\begin{align*} \begin{split} V = I * R \\    = 4*15 \\ V = 60 \,\, Volts \end{split} \end{align*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7200" y="9144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The resistance of a wire is 20 Ω. What will be new resistance, if it is stretched uniformly 8 times its original length?</a:t>
            </a:r>
            <a:endParaRPr lang="en-US" b="1" dirty="0"/>
          </a:p>
        </p:txBody>
      </p:sp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609600" y="160020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= 20 Ω,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= ?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Let the original length (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) be </a:t>
            </a: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 new length, </a:t>
            </a:r>
            <a:r>
              <a:rPr kumimoji="0" 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=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8</a:t>
            </a:r>
            <a:r>
              <a:rPr kumimoji="0" 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(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i.,e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)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l2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=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8</a:t>
            </a:r>
            <a:r>
              <a:rPr kumimoji="0" 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 original resistance, R = ρ [ </a:t>
            </a:r>
            <a:r>
              <a:rPr kumimoji="0" 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/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]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 new resistance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>  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Though the wire is stretched, its volume is unchanged.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Initial volume = Final volume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=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,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=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8</a:t>
            </a:r>
            <a:r>
              <a:rPr kumimoji="0" 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/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=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8</a:t>
            </a:r>
            <a:r>
              <a:rPr kumimoji="0" 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/</a:t>
            </a: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l 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= 8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By dividing equation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by equation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we get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>  </a:t>
            </a:r>
            <a:r>
              <a:rPr kumimoji="0" lang="en-US" sz="7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/>
            </a:r>
            <a:br>
              <a:rPr kumimoji="0" lang="en-US" sz="7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</a:b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Substituting the value of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/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we get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/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= 8 ×8 = 64 </a:t>
            </a:r>
            <a:r>
              <a:rPr lang="el-GR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Ω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= 64 × 20=1280 Ω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Hence, stretching the length of the wire has increased its resistance.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Helvetica Neue"/>
              <a:cs typeface="Arial" pitchFamily="34" charset="0"/>
            </a:endParaRPr>
          </a:p>
        </p:txBody>
      </p:sp>
      <p:pic>
        <p:nvPicPr>
          <p:cNvPr id="47106" name="Picture 2" descr="https://img.brainkart.com/imagebk39/GPKZvR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667000"/>
            <a:ext cx="1390650" cy="638175"/>
          </a:xfrm>
          <a:prstGeom prst="rect">
            <a:avLst/>
          </a:prstGeom>
          <a:noFill/>
        </p:spPr>
      </p:pic>
      <p:pic>
        <p:nvPicPr>
          <p:cNvPr id="47107" name="Picture 3" descr="https://img.brainkart.com/imagebk39/UVv3Hq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4572001"/>
            <a:ext cx="1905000" cy="10336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228600"/>
            <a:ext cx="3498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Problems on Equivalent Resistance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6096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Calculate the equivalent resistance for the circuit which is connected to 24 V battery and also find the potential difference across 4 Ω and 6 Ω resistors in the circuit.</a:t>
            </a:r>
            <a:endParaRPr lang="en-US" b="1" dirty="0"/>
          </a:p>
        </p:txBody>
      </p:sp>
      <p:pic>
        <p:nvPicPr>
          <p:cNvPr id="46082" name="Picture 2" descr="https://img.brainkart.com/imagebk39/bQwjKw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199" y="1219200"/>
            <a:ext cx="3036045" cy="2438400"/>
          </a:xfrm>
          <a:prstGeom prst="rect">
            <a:avLst/>
          </a:prstGeom>
          <a:noFill/>
        </p:spPr>
      </p:pic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3581400" y="1371600"/>
            <a:ext cx="53340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Since the resistors are connected in series, the effective resistance in the circuit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= 4 Ω + 6 Ω = 10 Ω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The Current I in the circuit= V/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Req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= 24/10 = 2 .4 A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Voltage across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4Ω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 resistor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V1 =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IR1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= 2 . 4 A× 4 Ω =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9.6V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Voltage across 6 Ω resistor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V2 =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IR1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= 2 . 4 A× 6 Ω =14 .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4V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3810000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Calculate the equivalent resistance in the following circuit and also find the current I, I1 and I2 in the given circuit.</a:t>
            </a:r>
            <a:endParaRPr lang="en-US" b="1" dirty="0"/>
          </a:p>
        </p:txBody>
      </p:sp>
      <p:pic>
        <p:nvPicPr>
          <p:cNvPr id="46086" name="Picture 6" descr="https://img.brainkart.com/imagebk39/8iwVEX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4419599"/>
            <a:ext cx="3581400" cy="2422391"/>
          </a:xfrm>
          <a:prstGeom prst="rect">
            <a:avLst/>
          </a:prstGeom>
          <a:noFill/>
        </p:spPr>
      </p:pic>
      <p:pic>
        <p:nvPicPr>
          <p:cNvPr id="46088" name="Picture 8" descr="https://img.brainkart.com/imagebk39/8V6OBLz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19600" y="4267200"/>
            <a:ext cx="3581400" cy="1190625"/>
          </a:xfrm>
          <a:prstGeom prst="rect">
            <a:avLst/>
          </a:prstGeom>
          <a:noFill/>
        </p:spPr>
      </p:pic>
      <p:pic>
        <p:nvPicPr>
          <p:cNvPr id="46090" name="Picture 10" descr="https://img.brainkart.com/imagebk39/UESeDdR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19600" y="5334000"/>
            <a:ext cx="2514600" cy="1076326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4800600" y="6324600"/>
            <a:ext cx="26709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 = I1 + I2= 6 A + 4 A = 10 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876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When two resistances connected in series and parallel their equivalent resistances are 15 Ω and 56/15 Ω respectively. Find the individual resistances.</a:t>
            </a:r>
            <a:endParaRPr lang="en-US" b="1" dirty="0"/>
          </a:p>
        </p:txBody>
      </p:sp>
      <p:pic>
        <p:nvPicPr>
          <p:cNvPr id="48130" name="Picture 2" descr="https://img.brainkart.com/imagebk39/IvmqHZ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066800"/>
            <a:ext cx="3257550" cy="4895850"/>
          </a:xfrm>
          <a:prstGeom prst="rect">
            <a:avLst/>
          </a:prstGeom>
          <a:noFill/>
        </p:spPr>
      </p:pic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4419600" y="1219200"/>
            <a:ext cx="42672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– 8) 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– 7) = 0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If 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= 8 Ω)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using in equation (1)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8 +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R2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 = 15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R2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 = 15 – 8 = 7 Ω ,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R2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 = 7 Ω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i.e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 , (when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 = 8 Ω ;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R2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 = 7 Ω)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If 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= 7 Ω)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Substituting in equation (1)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7 +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R2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 = 15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R2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 = 8 Ω ,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i.e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 , (when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 = 8 Ω ;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R2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Times New Roman" pitchFamily="18" charset="0"/>
              </a:rPr>
              <a:t> = 7 Ω 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Calculate the equivalent resistance between A and B in the given circuit.</a:t>
            </a:r>
            <a:endParaRPr lang="en-US" b="1" dirty="0"/>
          </a:p>
        </p:txBody>
      </p:sp>
      <p:pic>
        <p:nvPicPr>
          <p:cNvPr id="49154" name="Picture 2" descr="https://img.brainkart.com/imagebk39/eMNUn9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762000"/>
            <a:ext cx="5954598" cy="1524000"/>
          </a:xfrm>
          <a:prstGeom prst="rect">
            <a:avLst/>
          </a:prstGeom>
          <a:noFill/>
        </p:spPr>
      </p:pic>
      <p:pic>
        <p:nvPicPr>
          <p:cNvPr id="4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438400"/>
            <a:ext cx="4724400" cy="3309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2362200"/>
            <a:ext cx="44196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59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81600" y="4724400"/>
            <a:ext cx="3290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81000"/>
            <a:ext cx="38862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914400"/>
            <a:ext cx="401002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457200" y="1828800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Five resistors are connected in the configuration as shown in the figure. Calculate the equivalent resistance between the points a and b.</a:t>
            </a:r>
            <a:endParaRPr lang="en-US" b="1" dirty="0"/>
          </a:p>
        </p:txBody>
      </p:sp>
      <p:pic>
        <p:nvPicPr>
          <p:cNvPr id="50181" name="Picture 5" descr="https://img.brainkart.com/imagebk39/fVc3EeN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2667000"/>
            <a:ext cx="3276600" cy="32076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5212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Problems on Resistance and Ohm’s Law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850" y="1009650"/>
            <a:ext cx="84963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762000"/>
            <a:ext cx="8099984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10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Find the voltage across the resistor R = 2 </a:t>
            </a:r>
            <a:r>
              <a:rPr lang="el-GR" b="1" dirty="0" smtClean="0"/>
              <a:t>Ω</a:t>
            </a:r>
            <a:r>
              <a:rPr lang="en-US" b="1" dirty="0" smtClean="0"/>
              <a:t> in the figure</a:t>
            </a:r>
            <a:endParaRPr lang="en-US" b="1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838200"/>
            <a:ext cx="4114800" cy="1877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533400" y="2743200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The element of a 500 watt electric iron is designed for use on a 200 volt supply. What value of resistance is needed to be connected in series in order that the iron can be operated from 240 volt supply?  [35.2</a:t>
            </a:r>
            <a:r>
              <a:rPr lang="el-GR" b="1" dirty="0" smtClean="0"/>
              <a:t>Ω</a:t>
            </a:r>
            <a:r>
              <a:rPr lang="en-US" b="1" dirty="0" smtClean="0"/>
              <a:t>]</a:t>
            </a:r>
            <a:endParaRPr lang="en-US" b="1" dirty="0"/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810000"/>
            <a:ext cx="4953000" cy="329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4267200"/>
            <a:ext cx="3581400" cy="2365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48400" y="137160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3.33 V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2575" y="533400"/>
            <a:ext cx="857885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502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For the circuit shown in figure, the value of current I is</a:t>
            </a:r>
            <a:endParaRPr lang="en-US" b="1" dirty="0"/>
          </a:p>
        </p:txBody>
      </p:sp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14400"/>
            <a:ext cx="3886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228600" y="2895600"/>
            <a:ext cx="472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The potential of the point A in the given network is</a:t>
            </a:r>
            <a:endParaRPr lang="en-US" b="1" dirty="0"/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429000"/>
            <a:ext cx="3379694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724400" y="838200"/>
            <a:ext cx="419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The current through 30 </a:t>
            </a:r>
            <a:r>
              <a:rPr lang="el-GR" b="1" dirty="0" smtClean="0"/>
              <a:t>Ω</a:t>
            </a:r>
            <a:r>
              <a:rPr lang="en-US" b="1" dirty="0" smtClean="0"/>
              <a:t> branch in the given circuit is</a:t>
            </a:r>
            <a:endParaRPr lang="en-US" b="1" dirty="0"/>
          </a:p>
        </p:txBody>
      </p:sp>
      <p:pic>
        <p:nvPicPr>
          <p:cNvPr id="5427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1447800"/>
            <a:ext cx="30670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4724400" y="3886200"/>
            <a:ext cx="3445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The current through 8 </a:t>
            </a:r>
            <a:r>
              <a:rPr lang="el-GR" b="1" dirty="0" smtClean="0"/>
              <a:t>Ω</a:t>
            </a:r>
            <a:r>
              <a:rPr lang="en-US" b="1" dirty="0" smtClean="0"/>
              <a:t> branch is</a:t>
            </a:r>
            <a:endParaRPr lang="en-US" b="1" dirty="0"/>
          </a:p>
        </p:txBody>
      </p:sp>
      <p:pic>
        <p:nvPicPr>
          <p:cNvPr id="54280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0" y="4343400"/>
            <a:ext cx="356235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457200"/>
            <a:ext cx="38195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838200"/>
            <a:ext cx="2447925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2667000"/>
            <a:ext cx="57816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71600" y="3200400"/>
            <a:ext cx="270510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2901</Words>
  <Application>Microsoft Office PowerPoint</Application>
  <PresentationFormat>On-screen Show (4:3)</PresentationFormat>
  <Paragraphs>240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Helvetica Neue</vt:lpstr>
      <vt:lpstr>Times New Roman</vt:lpstr>
      <vt:lpstr>Office Theme</vt:lpstr>
      <vt:lpstr>UNIT-I</vt:lpstr>
      <vt:lpstr>Basic Definitions</vt:lpstr>
      <vt:lpstr>PowerPoint Presentation</vt:lpstr>
      <vt:lpstr>Power and Energy</vt:lpstr>
      <vt:lpstr>Circuit</vt:lpstr>
      <vt:lpstr>PowerPoint Presentation</vt:lpstr>
      <vt:lpstr>Classification of Network Elements</vt:lpstr>
      <vt:lpstr>PowerPoint Presentation</vt:lpstr>
      <vt:lpstr>PASSIVE CIRCUIT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UNIT-I</dc:title>
  <dc:creator>pavankumar kollimarla</dc:creator>
  <cp:lastModifiedBy>PAVAN KUMAR</cp:lastModifiedBy>
  <cp:revision>54</cp:revision>
  <dcterms:created xsi:type="dcterms:W3CDTF">2006-08-16T00:00:00Z</dcterms:created>
  <dcterms:modified xsi:type="dcterms:W3CDTF">2026-02-03T03:39:20Z</dcterms:modified>
</cp:coreProperties>
</file>